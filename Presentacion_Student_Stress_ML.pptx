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04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/mnt/data/extracted_imgs/cell0_md_0.png"/>
          <p:cNvPicPr>
            <a:picLocks noChangeAspect="1"/>
          </p:cNvPicPr>
          <p:nvPr/>
        </p:nvPicPr>
        <p:blipFill>
          <a:blip r:embed="rId3"/>
          <a:srcRect l="23602" r="23602"/>
          <a:stretch/>
        </p:blipFill>
        <p:spPr>
          <a:xfrm>
            <a:off x="6172200" y="0"/>
            <a:ext cx="60194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72200" y="0"/>
            <a:ext cx="6016752" cy="6858000"/>
          </a:xfrm>
          <a:prstGeom prst="rect">
            <a:avLst/>
          </a:prstGeom>
          <a:solidFill>
            <a:srgbClr val="0B1F33">
              <a:alpha val="3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344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Student Stress,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Sleep &amp; Screen Time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58368" y="2697480"/>
            <a:ext cx="4023360" cy="0"/>
          </a:xfrm>
          <a:prstGeom prst="line">
            <a:avLst/>
          </a:prstGeom>
          <a:noFill/>
          <a:ln w="38100">
            <a:solidFill>
              <a:srgbClr val="1D9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2944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2"/>
                </a:solidFill>
              </a:rPr>
              <a:t>Proyecto de Aprendizaje de Máquina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6656" y="59893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9E6F2"/>
                </a:solidFill>
              </a:rPr>
              <a:t>Santiago Sepúlveda Blanco · Vivian Yulitza Ramírez · Carlos David Herrera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VISIÓN GENERAL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Objetivo del proyecto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698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3040"/>
                </a:solidFill>
              </a:rPr>
              <a:t>Analizar patrones en estudiantes a partir de hábitos diarios y características personales para clasificar o agrupar su nivel de estrés.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B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907792"/>
            <a:ext cx="411480" cy="411480"/>
          </a:xfrm>
          <a:prstGeom prst="rect">
            <a:avLst/>
          </a:prstGeom>
          <a:solidFill>
            <a:srgbClr val="1D9A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99032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Exploración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529584"/>
            <a:ext cx="1783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8"/>
                </a:solidFill>
              </a:rPr>
              <a:t>Entender el dataset y sus variables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11880" y="278892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B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2907792"/>
            <a:ext cx="411480" cy="411480"/>
          </a:xfrm>
          <a:prstGeom prst="rect">
            <a:avLst/>
          </a:prstGeom>
          <a:solidFill>
            <a:srgbClr val="2367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33672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Supervisado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3529584"/>
            <a:ext cx="1783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8"/>
                </a:solidFill>
              </a:rPr>
              <a:t>Entrenar modelos para predecir stress_level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278892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B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907792"/>
            <a:ext cx="41148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68312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No supervisado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3529584"/>
            <a:ext cx="1783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8"/>
                </a:solidFill>
              </a:rPr>
              <a:t>Aplicar PCA, KMeans y DBSCAN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278892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BE8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0888" y="2907792"/>
            <a:ext cx="411480" cy="411480"/>
          </a:xfrm>
          <a:prstGeom prst="rect">
            <a:avLst/>
          </a:prstGeom>
          <a:solidFill>
            <a:srgbClr val="725AC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902952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Comparación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64040" y="3529584"/>
            <a:ext cx="1783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8"/>
                </a:solidFill>
              </a:rPr>
              <a:t>Analizar resultados y conclusiones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3000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B1F33"/>
                </a:solidFill>
              </a:rPr>
              <a:t>Idea central: comparar si los algoritmos supervisados y no supervisados capturan patrones relacionados con el estrés estudiantil.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DATASET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Descripción general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8249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A8A"/>
                </a:solidFill>
              </a:rPr>
              <a:t>500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Registros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88920" y="160020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68249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7A6"/>
                </a:solidFill>
              </a:rPr>
              <a:t>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80360" y="2011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Columnas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1600200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stress_level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Variable objetivo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5577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53040"/>
                </a:solidFill>
              </a:rPr>
              <a:t>El dataset reúne información de estudiantes y hábitos asociados al bienestar, el sueño, el tiempo en pantalla y la presión académica.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Ejemplos de variables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420624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253040"/>
                </a:solidFill>
              </a:rPr>
              <a:t>sleep_hours</a:t>
            </a:r>
            <a:endParaRPr lang="en-US" sz="1500" dirty="0"/>
          </a:p>
          <a:p>
            <a:r>
              <a:rPr lang="en-US" sz="1500" dirty="0">
                <a:solidFill>
                  <a:srgbClr val="253040"/>
                </a:solidFill>
              </a:rPr>
              <a:t>screen_time_hours</a:t>
            </a:r>
            <a:endParaRPr lang="en-US" sz="1500" dirty="0"/>
          </a:p>
          <a:p>
            <a:r>
              <a:rPr lang="en-US" sz="1500" dirty="0">
                <a:solidFill>
                  <a:srgbClr val="253040"/>
                </a:solidFill>
              </a:rPr>
              <a:t>study_hours</a:t>
            </a:r>
            <a:endParaRPr lang="en-US" sz="1500" dirty="0"/>
          </a:p>
          <a:p>
            <a:r>
              <a:rPr lang="en-US" sz="1500" dirty="0">
                <a:solidFill>
                  <a:srgbClr val="253040"/>
                </a:solidFill>
              </a:rPr>
              <a:t>academic_pressure</a:t>
            </a:r>
            <a:endParaRPr lang="en-US" sz="1500" dirty="0"/>
          </a:p>
          <a:p>
            <a:r>
              <a:rPr lang="en-US" sz="1500" dirty="0">
                <a:solidFill>
                  <a:srgbClr val="253040"/>
                </a:solidFill>
              </a:rPr>
              <a:t>caffeine_intake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0" y="1554480"/>
            <a:ext cx="3886200" cy="41148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Muestra de columnas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2331720"/>
            <a:ext cx="3108960" cy="150876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1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 gender     sleep_hours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    Female     5.9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     Male       5.9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    Male       8.0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0" y="4343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A8A"/>
                </a:solidFill>
              </a:rPr>
              <a:t>Clases de stress_level: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D9A8A"/>
                </a:solidFill>
              </a:rPr>
              <a:t>Low · Medium · High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DATASET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Tipos de variables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67A6"/>
                </a:solidFill>
              </a:rPr>
              <a:t>Variables numéricas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2148840"/>
            <a:ext cx="438912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253040"/>
                </a:solidFill>
              </a:rPr>
              <a:t>age</a:t>
            </a:r>
            <a:endParaRPr lang="en-US" sz="1700" dirty="0"/>
          </a:p>
          <a:p>
            <a:r>
              <a:rPr lang="en-US" sz="1700" dirty="0">
                <a:solidFill>
                  <a:srgbClr val="253040"/>
                </a:solidFill>
              </a:rPr>
              <a:t>sleep_hours</a:t>
            </a:r>
            <a:endParaRPr lang="en-US" sz="1700" dirty="0"/>
          </a:p>
          <a:p>
            <a:r>
              <a:rPr lang="en-US" sz="1700" dirty="0">
                <a:solidFill>
                  <a:srgbClr val="253040"/>
                </a:solidFill>
              </a:rPr>
              <a:t>screen_time_hours</a:t>
            </a:r>
            <a:endParaRPr lang="en-US" sz="1700" dirty="0"/>
          </a:p>
          <a:p>
            <a:r>
              <a:rPr lang="en-US" sz="1700" dirty="0">
                <a:solidFill>
                  <a:srgbClr val="253040"/>
                </a:solidFill>
              </a:rPr>
              <a:t>study_hours</a:t>
            </a:r>
            <a:endParaRPr lang="en-US" sz="1700" dirty="0"/>
          </a:p>
          <a:p>
            <a:r>
              <a:rPr lang="en-US" sz="1700" dirty="0">
                <a:solidFill>
                  <a:srgbClr val="253040"/>
                </a:solidFill>
              </a:rPr>
              <a:t>caffeine_intake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A8A"/>
                </a:solidFill>
              </a:rPr>
              <a:t>Variables categóricas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0" y="2148840"/>
            <a:ext cx="438912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253040"/>
                </a:solidFill>
              </a:rPr>
              <a:t>gender</a:t>
            </a:r>
            <a:endParaRPr lang="en-US" sz="1700" dirty="0"/>
          </a:p>
          <a:p>
            <a:r>
              <a:rPr lang="en-US" sz="1700" dirty="0">
                <a:solidFill>
                  <a:srgbClr val="253040"/>
                </a:solidFill>
              </a:rPr>
              <a:t>physical_activity</a:t>
            </a:r>
            <a:endParaRPr lang="en-US" sz="1700" dirty="0"/>
          </a:p>
          <a:p>
            <a:r>
              <a:rPr lang="en-US" sz="1700" dirty="0">
                <a:solidFill>
                  <a:srgbClr val="253040"/>
                </a:solidFill>
              </a:rPr>
              <a:t>academic_pressure</a:t>
            </a:r>
            <a:endParaRPr lang="en-US" sz="1700" dirty="0"/>
          </a:p>
          <a:p>
            <a:r>
              <a:rPr lang="en-US" sz="1700" dirty="0">
                <a:solidFill>
                  <a:srgbClr val="253040"/>
                </a:solidFill>
              </a:rPr>
              <a:t>stress_level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Preparación usada en los modelos: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534924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3040"/>
                </a:solidFill>
              </a:rPr>
              <a:t>Las variables categóricas se transformaron a valores numéricos con pd.factorize().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PRIMERA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Revisión inicial del dataset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77393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A8A"/>
                </a:solidFill>
              </a:rPr>
              <a:t>500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Filas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80360" y="169164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77393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7A6"/>
                </a:solidFill>
              </a:rPr>
              <a:t>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Columnas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83480" y="169164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77393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A06B"/>
                </a:solidFill>
              </a:rPr>
              <a:t>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7492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Valores nulos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3"/>
                </a:solidFill>
              </a:rPr>
              <a:t>Hallazgos principales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0120" y="3474720"/>
            <a:ext cx="493776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253040"/>
                </a:solidFill>
              </a:rPr>
              <a:t>El dataset no requirió imputación de nulos.</a:t>
            </a:r>
            <a:endParaRPr lang="en-US" sz="1600" dirty="0"/>
          </a:p>
          <a:p>
            <a:r>
              <a:rPr lang="en-US" sz="1600" dirty="0">
                <a:solidFill>
                  <a:srgbClr val="253040"/>
                </a:solidFill>
              </a:rPr>
              <a:t>Se identificaron variables numéricas y categóricas.</a:t>
            </a:r>
            <a:endParaRPr lang="en-US" sz="1600" dirty="0"/>
          </a:p>
          <a:p>
            <a:r>
              <a:rPr lang="en-US" sz="1600" dirty="0">
                <a:solidFill>
                  <a:srgbClr val="253040"/>
                </a:solidFill>
              </a:rPr>
              <a:t>student_id se consideró identificador y no predictor.</a:t>
            </a:r>
            <a:endParaRPr lang="en-US" sz="1600" dirty="0"/>
          </a:p>
          <a:p>
            <a:r>
              <a:rPr lang="en-US" sz="1600" dirty="0">
                <a:solidFill>
                  <a:srgbClr val="253040"/>
                </a:solidFill>
              </a:rPr>
              <a:t>stress_level se tomó como variable objetivo.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182880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2148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Limpieza inicial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26680" y="2743200"/>
            <a:ext cx="29260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53040"/>
                </a:solidFill>
              </a:rPr>
              <a:t>1. Cargar datos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53040"/>
                </a:solidFill>
              </a:rPr>
              <a:t>2. Revisar info() y describe()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53040"/>
                </a:solidFill>
              </a:rPr>
              <a:t>3. Validar nulos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53040"/>
                </a:solidFill>
              </a:rPr>
              <a:t>4. Codificar categóricas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53040"/>
                </a:solidFill>
              </a:rPr>
              <a:t>5. Separar X e 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PRIMERA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Estadísticas y distribución de estrés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82496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7A6"/>
                </a:solidFill>
              </a:rPr>
              <a:t>21.53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Edad promedio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1600200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A8A"/>
                </a:solidFill>
              </a:rPr>
              <a:t>6.55 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2011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Sueño promedio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92040" y="1600200"/>
            <a:ext cx="2011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682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7.11 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Pantalla promedio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78040" y="1600200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7768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25AC1"/>
                </a:solidFill>
              </a:rPr>
              <a:t>5.02 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69480" y="20116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Estudio promedio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" y="283464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19" name="Image 0" descr="/mnt/data/extracted_imgs/cell18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210" y="2962656"/>
            <a:ext cx="2574381" cy="2697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87552" y="5715000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Distribución de stress_level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00800" y="283464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22" name="Image 1" descr="/mnt/data/extracted_imgs/cell20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978" y="2962656"/>
            <a:ext cx="3332524" cy="2697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565392" y="5715000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Distribución de horas de sueño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PRIMERA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Detección de anomalías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040"/>
                </a:solidFill>
              </a:rPr>
              <a:t>Se revisaron posibles valores atípicos en variables numéricas mediante boxplots.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6400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8" name="Image 0" descr="/mnt/data/extracted_imgs/cell16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044" y="2322576"/>
            <a:ext cx="5625193" cy="297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5349240"/>
            <a:ext cx="6071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Boxplots de variables numéricas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3524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3"/>
                </a:solidFill>
              </a:rPr>
              <a:t>Resultado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726680" y="2907792"/>
            <a:ext cx="356616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253040"/>
                </a:solidFill>
              </a:rPr>
              <a:t>No se observaron outliers relevantes.</a:t>
            </a:r>
            <a:endParaRPr lang="en-US" sz="1600" dirty="0"/>
          </a:p>
          <a:p>
            <a:r>
              <a:rPr lang="en-US" sz="1600" dirty="0">
                <a:solidFill>
                  <a:srgbClr val="253040"/>
                </a:solidFill>
              </a:rPr>
              <a:t>Se continuó con el dataset completo.</a:t>
            </a:r>
            <a:endParaRPr lang="en-US" sz="1600" dirty="0"/>
          </a:p>
          <a:p>
            <a:r>
              <a:rPr lang="en-US" sz="1600" dirty="0">
                <a:solidFill>
                  <a:srgbClr val="253040"/>
                </a:solidFill>
              </a:rPr>
              <a:t>La etapa posterior se centró en codificación y partición de datos.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PRIMERA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Sueño vs tiempo en pantalla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6400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7" name="Image 0" descr="/mnt/data/extracted_imgs/cell22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817" y="1728216"/>
            <a:ext cx="4883646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5806440"/>
            <a:ext cx="6071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Relación entre screen_time_hours y sleep_hours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54380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Lectura de la gráfica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35240" y="2514600"/>
            <a:ext cx="374904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253040"/>
                </a:solidFill>
              </a:rPr>
              <a:t>Los puntos representan estudiantes.</a:t>
            </a:r>
            <a:endParaRPr lang="en-US" sz="1700" dirty="0"/>
          </a:p>
          <a:p>
            <a:r>
              <a:rPr lang="en-US" sz="1700" dirty="0">
                <a:solidFill>
                  <a:srgbClr val="253040"/>
                </a:solidFill>
              </a:rPr>
              <a:t>El color indica el nivel de estrés.</a:t>
            </a:r>
            <a:endParaRPr lang="en-US" sz="1700" dirty="0"/>
          </a:p>
          <a:p>
            <a:r>
              <a:rPr lang="en-US" sz="1700" dirty="0">
                <a:solidFill>
                  <a:srgbClr val="253040"/>
                </a:solidFill>
              </a:rPr>
              <a:t>La visualización muestra patrones generales, aunque no separaciones perfectas.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8952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D9A8A"/>
                </a:solidFill>
              </a:rPr>
              <a:t>Esta exploración sirvió como base para entrenar modelos de clasificación.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SEGUNDA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Preparación para clasificación supervisada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3040"/>
                </a:solidFill>
              </a:rPr>
              <a:t>Objetivo: predecir stress_level usando las demás variables del dataset.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9718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A8A"/>
                </a:solidFill>
              </a:rPr>
              <a:t>Eliminar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493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3040"/>
                </a:solidFill>
              </a:rPr>
              <a:t>student_id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7432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9718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67A6"/>
                </a:solidFill>
              </a:rPr>
              <a:t>Codificar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3493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3040"/>
                </a:solidFill>
              </a:rPr>
              <a:t>factorize()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27432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9718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Separar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493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3040"/>
                </a:solidFill>
              </a:rPr>
              <a:t>X / 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35440" y="274320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9718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25AC1"/>
                </a:solidFill>
              </a:rPr>
              <a:t>Particionar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2600" y="3493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53040"/>
                </a:solidFill>
              </a:rPr>
              <a:t>80% train · 20%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dirty="0">
                <a:solidFill>
                  <a:srgbClr val="0B1F33"/>
                </a:solidFill>
              </a:rPr>
              <a:t>Con esta preparación se entrenaron modelos que aprenden a clasificar cada estudiante en Low, Medium o High.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SEGUNDA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Modelos supervisados entrenados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9A8A"/>
                </a:solidFill>
              </a:rPr>
              <a:t>Decision Tree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778"/>
                </a:solidFill>
              </a:rPr>
              <a:t>Parámetro evaluado: max_depth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93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367A6"/>
                </a:solidFill>
              </a:rPr>
              <a:t>Random Forest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778"/>
                </a:solidFill>
              </a:rPr>
              <a:t>Parámetro evaluado: n_estimators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9593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9E0B"/>
                </a:solidFill>
              </a:rPr>
              <a:t>SVM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778"/>
                </a:solidFill>
              </a:rPr>
              <a:t>Parámetro evaluado: kernels: linear · poly · rbf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0" y="370332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9593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25AC1"/>
                </a:solidFill>
              </a:rPr>
              <a:t>Deep Learning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29400" y="4480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778"/>
                </a:solidFill>
              </a:rPr>
              <a:t>Parámetro evaluado: 3 · 6 · 10 capas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0120" y="56235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B1F33"/>
                </a:solidFill>
              </a:rPr>
              <a:t>Todos los modelos se compararon usando accuracy sobre datos de prueba.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SEGUNDA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Resultados supervisados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41605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                Accuracy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3703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Tree          1.0000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          0.9600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 RBF                0.9500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         ≈0.9500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A8A"/>
                </a:solidFill>
              </a:rPr>
              <a:t>Mejor resultado observado: Decision Tree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77840" y="1554480"/>
            <a:ext cx="58521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11" name="Image 0" descr="/mnt/data/extracted_imgs/cell47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325" y="1682496"/>
            <a:ext cx="4139190" cy="3429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42432" y="5166360"/>
            <a:ext cx="5522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Comparación final de modelos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TERCERA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Preparación para aprendizaje no supervisado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3040"/>
                </a:solidFill>
              </a:rPr>
              <a:t>En esta etapa ya no se entrena para predecir una etiqueta. Se busca observar cómo se agrupan los datos.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9A8A"/>
                </a:solidFill>
              </a:rPr>
              <a:t>Factorize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51560" y="3218688"/>
            <a:ext cx="1783080" cy="0"/>
          </a:xfrm>
          <a:prstGeom prst="line">
            <a:avLst/>
          </a:prstGeom>
          <a:noFill/>
          <a:ln w="25400">
            <a:solidFill>
              <a:srgbClr val="1D9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778"/>
                </a:solidFill>
              </a:rPr>
              <a:t>categóricas a números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08960" y="3054096"/>
            <a:ext cx="320040" cy="320040"/>
          </a:xfrm>
          <a:prstGeom prst="chevron">
            <a:avLst/>
          </a:prstGeom>
          <a:solidFill>
            <a:srgbClr val="B8C4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743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67A6"/>
                </a:solidFill>
              </a:rPr>
              <a:t>StandardScaler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840480" y="3218688"/>
            <a:ext cx="1783080" cy="0"/>
          </a:xfrm>
          <a:prstGeom prst="line">
            <a:avLst/>
          </a:prstGeom>
          <a:noFill/>
          <a:ln w="25400">
            <a:solidFill>
              <a:srgbClr val="236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778"/>
                </a:solidFill>
              </a:rPr>
              <a:t>misma escala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97880" y="3054096"/>
            <a:ext cx="320040" cy="320040"/>
          </a:xfrm>
          <a:prstGeom prst="chevron">
            <a:avLst/>
          </a:prstGeom>
          <a:solidFill>
            <a:srgbClr val="B8C4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743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</a:rPr>
              <a:t>PCA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629400" y="3218688"/>
            <a:ext cx="1783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778"/>
                </a:solidFill>
              </a:rPr>
              <a:t>2 componentes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0" y="3054096"/>
            <a:ext cx="320040" cy="320040"/>
          </a:xfrm>
          <a:prstGeom prst="chevron">
            <a:avLst/>
          </a:prstGeom>
          <a:solidFill>
            <a:srgbClr val="B8C4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743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25AC1"/>
                </a:solidFill>
              </a:rPr>
              <a:t>Clustering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418320" y="3218688"/>
            <a:ext cx="1783080" cy="0"/>
          </a:xfrm>
          <a:prstGeom prst="line">
            <a:avLst/>
          </a:prstGeom>
          <a:noFill/>
          <a:ln w="25400">
            <a:solidFill>
              <a:srgbClr val="725A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778"/>
                </a:solidFill>
              </a:rPr>
              <a:t>KMeans y DBSCAN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926080" y="4892040"/>
            <a:ext cx="21945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497433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7A6"/>
                </a:solidFill>
              </a:rPr>
              <a:t>(500, 8)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017520" y="5303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Shape escalado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0" y="4892040"/>
            <a:ext cx="21945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497433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(500, 2)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5303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Shape PCA</a:t>
            </a:r>
            <a:endParaRPr lang="en-US" sz="8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TERCERA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Reducción dimensional con PCA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3040"/>
                </a:solidFill>
              </a:rPr>
              <a:t>PCA se usó para convertir 8 variables predictoras en 2 componentes principales.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05840" y="2697480"/>
            <a:ext cx="20574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79776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7A6"/>
                </a:solidFill>
              </a:rPr>
              <a:t>8 variables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Entrada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0" y="2697480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779776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A8A"/>
                </a:solidFill>
              </a:rPr>
              <a:t>2 componentes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310896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Salida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Motivo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8992" y="4434840"/>
            <a:ext cx="53035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50" dirty="0">
                <a:solidFill>
                  <a:srgbClr val="253040"/>
                </a:solidFill>
              </a:rPr>
              <a:t>Visualizar los datos en dos dimensiones.</a:t>
            </a:r>
            <a:endParaRPr lang="en-US" sz="1550" dirty="0"/>
          </a:p>
          <a:p>
            <a:r>
              <a:rPr lang="en-US" sz="1550" dirty="0">
                <a:solidFill>
                  <a:srgbClr val="253040"/>
                </a:solidFill>
              </a:rPr>
              <a:t>Facilitar la comparación de clases originales y clusters.</a:t>
            </a:r>
            <a:endParaRPr lang="en-US" sz="1550" dirty="0"/>
          </a:p>
          <a:p>
            <a:r>
              <a:rPr lang="en-US" sz="1550" dirty="0">
                <a:solidFill>
                  <a:srgbClr val="253040"/>
                </a:solidFill>
              </a:rPr>
              <a:t>Usar los componentes como entrada para KMeans y DBSCAN.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98080" y="17830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Código clave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18120" y="2834640"/>
            <a:ext cx="2926080" cy="1005840"/>
          </a:xfrm>
          <a:prstGeom prst="rect">
            <a:avLst/>
          </a:prstGeom>
          <a:solidFill>
            <a:srgbClr val="F2F6F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PCA(n_components=2, whiten=True)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5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X_pca = pca.fit_transform(X_scaled)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18120" y="42519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A8A"/>
                </a:solidFill>
              </a:rPr>
              <a:t>Resultado: X PCA = (500, 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TERCERA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KMeans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011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82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A8A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n_clusters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1600200"/>
            <a:ext cx="22860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6824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7A6"/>
                </a:solidFill>
              </a:rPr>
              <a:t>stress_level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46120" y="20116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Referencia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Justificación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448056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253040"/>
                </a:solidFill>
              </a:rPr>
              <a:t>El dataset tiene 3 clases: Low, Medium y High.</a:t>
            </a:r>
            <a:endParaRPr lang="en-US" sz="1600" dirty="0"/>
          </a:p>
          <a:p>
            <a:r>
              <a:rPr lang="en-US" sz="1600" dirty="0">
                <a:solidFill>
                  <a:srgbClr val="253040"/>
                </a:solidFill>
              </a:rPr>
              <a:t>KMeans requiere definir el número de clusters.</a:t>
            </a:r>
            <a:endParaRPr lang="en-US" sz="1600" dirty="0"/>
          </a:p>
          <a:p>
            <a:r>
              <a:rPr lang="en-US" sz="1600" dirty="0">
                <a:solidFill>
                  <a:srgbClr val="253040"/>
                </a:solidFill>
              </a:rPr>
              <a:t>Sirve para comparar grupos contra las clases reales.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56692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15" name="Image 0" descr="/mnt/data/extracted_imgs/cell55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783629"/>
            <a:ext cx="5394960" cy="177537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33872" y="5715000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Comparación visual: original, KMeans y DBSCAN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TERCERA ENTREGA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DBSCAN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53040"/>
                </a:solidFill>
              </a:rPr>
              <a:t>DBSCAN agrupa por densidad y puede marcar puntos como ruido.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5544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41401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0.3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eps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233172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241401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A8A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97480" y="2743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min_samples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15544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41401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67A6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Clusters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46520" y="2331720"/>
            <a:ext cx="1645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24140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534F"/>
                </a:solidFill>
              </a:rPr>
              <a:t>0.056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Ruido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321040" y="2331720"/>
            <a:ext cx="1645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24140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25AC1"/>
                </a:solidFill>
              </a:rPr>
              <a:t>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Puntos ruido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Criterio usado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493776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50" dirty="0">
                <a:solidFill>
                  <a:srgbClr val="253040"/>
                </a:solidFill>
              </a:rPr>
              <a:t>Buscar clusters cercanos a las 3 clases reales.</a:t>
            </a:r>
            <a:endParaRPr lang="en-US" sz="1550" dirty="0"/>
          </a:p>
          <a:p>
            <a:r>
              <a:rPr lang="en-US" sz="1550" dirty="0">
                <a:solidFill>
                  <a:srgbClr val="253040"/>
                </a:solidFill>
              </a:rPr>
              <a:t>Mantener bajo el número de puntos como ruido.</a:t>
            </a:r>
            <a:endParaRPr lang="en-US" sz="1550" dirty="0"/>
          </a:p>
          <a:p>
            <a:r>
              <a:rPr lang="en-US" sz="1550" dirty="0">
                <a:solidFill>
                  <a:srgbClr val="253040"/>
                </a:solidFill>
              </a:rPr>
              <a:t>No elegir solo el menor ruido, porque puede producir un único cluster.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92240" y="4069080"/>
            <a:ext cx="4114800" cy="777240"/>
          </a:xfrm>
          <a:prstGeom prst="rect">
            <a:avLst/>
          </a:prstGeom>
          <a:solidFill>
            <a:srgbClr val="FFF7E6"/>
          </a:solidFill>
          <a:ln w="12700">
            <a:solidFill>
              <a:srgbClr val="F5D99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3040"/>
                </a:solidFill>
              </a:rPr>
              <a:t>Score usado en el notebook: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53040"/>
                </a:solidFill>
              </a:rPr>
              <a:t>abs(clusters - n_clusters) + ruido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A8A"/>
                </a:solidFill>
              </a:rPr>
              <a:t>CIERRE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8521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</a:rPr>
              <a:t>Comparación general y conclusiones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8"/>
                </a:solidFill>
              </a:rPr>
              <a:t>Student Stress, Sleep &amp; Screen Time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715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7" name="Image 0" descr="/mnt/data/extracted_imgs/cell55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27467"/>
            <a:ext cx="5440680" cy="17904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4663440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</a:rPr>
              <a:t>Original / KMeans / DBSCAN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12280" y="1600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Conclusiones principales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903720" y="2121408"/>
            <a:ext cx="448056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30" dirty="0">
                <a:solidFill>
                  <a:srgbClr val="253040"/>
                </a:solidFill>
              </a:rPr>
              <a:t>Los modelos supervisados fueron los más efectivos para clasificar stress_level.</a:t>
            </a:r>
            <a:endParaRPr lang="en-US" sz="1530" dirty="0"/>
          </a:p>
          <a:p>
            <a:r>
              <a:rPr lang="en-US" sz="1530" dirty="0">
                <a:solidFill>
                  <a:srgbClr val="253040"/>
                </a:solidFill>
              </a:rPr>
              <a:t>Decision Tree obtuvo el mejor resultado en el notebook.</a:t>
            </a:r>
            <a:endParaRPr lang="en-US" sz="1530" dirty="0"/>
          </a:p>
          <a:p>
            <a:r>
              <a:rPr lang="en-US" sz="1530" dirty="0">
                <a:solidFill>
                  <a:srgbClr val="253040"/>
                </a:solidFill>
              </a:rPr>
              <a:t>PCA permitió visualizar los datos en 2 dimensiones.</a:t>
            </a:r>
            <a:endParaRPr lang="en-US" sz="1530" dirty="0"/>
          </a:p>
          <a:p>
            <a:r>
              <a:rPr lang="en-US" sz="1530" dirty="0">
                <a:solidFill>
                  <a:srgbClr val="253040"/>
                </a:solidFill>
              </a:rPr>
              <a:t>KMeans agrupó en 3 clusters definidos.</a:t>
            </a:r>
            <a:endParaRPr lang="en-US" sz="1530" dirty="0"/>
          </a:p>
          <a:p>
            <a:r>
              <a:rPr lang="en-US" sz="1530" dirty="0">
                <a:solidFill>
                  <a:srgbClr val="253040"/>
                </a:solidFill>
              </a:rPr>
              <a:t>DBSCAN encontró 3 clusters y detectó puntos de ruido.</a:t>
            </a:r>
            <a:endParaRPr lang="en-US" sz="1530" dirty="0"/>
          </a:p>
        </p:txBody>
      </p:sp>
      <p:sp>
        <p:nvSpPr>
          <p:cNvPr id="11" name="Shape 8"/>
          <p:cNvSpPr/>
          <p:nvPr/>
        </p:nvSpPr>
        <p:spPr>
          <a:xfrm>
            <a:off x="868680" y="5486400"/>
            <a:ext cx="1051560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571500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9A8A"/>
                </a:solidFill>
              </a:rPr>
              <a:t>Resultado final: el enfoque supervisado fue más adecuado para predicción; el no supervisado sirvió para explorar agrupaciones y visualizar patrones.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3A4B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1084</Words>
  <Application>Microsoft Office PowerPoint</Application>
  <PresentationFormat>Panorámica</PresentationFormat>
  <Paragraphs>253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Arquiscience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Stress, Sleep &amp; Screen Time</dc:title>
  <dc:subject>Student Stress, Sleep &amp; Screen Time - Aprendizaje de Maquina</dc:subject>
  <dc:creator>Juan Carlos Infante Quintero</dc:creator>
  <cp:lastModifiedBy>Vivian Ramirez</cp:lastModifiedBy>
  <cp:revision>2</cp:revision>
  <dcterms:created xsi:type="dcterms:W3CDTF">2026-05-25T23:40:59Z</dcterms:created>
  <dcterms:modified xsi:type="dcterms:W3CDTF">2026-05-26T00:03:07Z</dcterms:modified>
</cp:coreProperties>
</file>